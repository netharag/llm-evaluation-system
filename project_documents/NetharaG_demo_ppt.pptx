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05543" y="1325880"/>
            <a:ext cx="1073331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lang="en-IN" sz="3800" b="1" dirty="0"/>
              <a:t>Development of AI Response Validation System with Hallucination Detection Assistance – Group 2</a:t>
            </a:r>
          </a:p>
          <a:p>
            <a:pPr algn="ctr">
              <a:defRPr sz="3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44192" y="3189514"/>
            <a:ext cx="38211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>
                <a:solidFill>
                  <a:srgbClr val="FFFFFF"/>
                </a:solidFill>
              </a:defRPr>
            </a:pPr>
            <a:r>
              <a:rPr dirty="0"/>
              <a:t>Final Project Demonstration</a:t>
            </a:r>
            <a:endParaRPr lang="en-US" dirty="0"/>
          </a:p>
          <a:p>
            <a:pPr algn="ctr">
              <a:defRPr sz="2500">
                <a:solidFill>
                  <a:srgbClr val="FFFFFF"/>
                </a:solidFill>
              </a:defRPr>
            </a:pPr>
            <a:r>
              <a:rPr lang="en-IN" dirty="0"/>
              <a:t>By </a:t>
            </a:r>
            <a:r>
              <a:rPr lang="en-IN" dirty="0" err="1"/>
              <a:t>Nethara</a:t>
            </a:r>
            <a:r>
              <a:rPr lang="en-IN" dirty="0"/>
              <a:t> 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621970" y="4206240"/>
            <a:ext cx="94422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rPr dirty="0"/>
              <a:t>RAG-based reference retrieval + multi-agent response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rPr dirty="0"/>
              <a:t>Infosys Springboard Internship • Group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4582"/>
            <a:ext cx="34422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0582" y="1536391"/>
            <a:ext cx="888927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Large Language Models can generate incorrect, incomplete, irrelevant, or unsupported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Manual evaluation of AI responses is time-consuming and difficult to scale.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A reliable evaluation platform should compare an AI response against trusted reference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The system should provide explainable scores for accuracy, relevance, hallucination, and completeness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278313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2435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2.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Reference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Retrieve relevant reference information using 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819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Multi-Agent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55336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rPr dirty="0"/>
              <a:t>Evaluate Accuracy, Relevance, Hallucination and </a:t>
            </a:r>
            <a:endParaRPr lang="en-US" dirty="0"/>
          </a:p>
          <a:p>
            <a:pPr>
              <a:defRPr sz="1700" b="1">
                <a:solidFill>
                  <a:srgbClr val="1E293B"/>
                </a:solidFill>
              </a:defRPr>
            </a:pPr>
            <a:r>
              <a:rPr dirty="0"/>
              <a:t>Completeness.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212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Scoring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4892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Visualize scores, verdicts and batch evaluation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12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73152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6393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Report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77639"/>
            <a:ext cx="407271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rPr dirty="0"/>
              <a:t>Generate structured evaluation reports for </a:t>
            </a:r>
            <a:endParaRPr lang="en-US" dirty="0"/>
          </a:p>
          <a:p>
            <a:pPr>
              <a:defRPr sz="1700" b="1">
                <a:solidFill>
                  <a:srgbClr val="1E293B"/>
                </a:solidFill>
              </a:defRPr>
            </a:pPr>
            <a:r>
              <a:rPr dirty="0"/>
              <a:t>documentation.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5393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3.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2331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9572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6FEB"/>
                </a:solidFill>
              </a:defRPr>
            </a:pPr>
            <a: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Question + AI Response</a:t>
            </a:r>
            <a:br/>
            <a:r>
              <a:t>+ Optional PDF/CSV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98648" y="2743200"/>
            <a:ext cx="438912" cy="45720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83280" y="2148840"/>
            <a:ext cx="2331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39572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6FEB"/>
                </a:solidFill>
              </a:defRPr>
            </a:pPr>
            <a:r>
              <a:t>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2608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Chunking → Embedding</a:t>
            </a:r>
            <a:br/>
            <a:r>
              <a:t>→ ChromaDB → Retrieval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79008" y="2743200"/>
            <a:ext cx="438912" cy="45720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2331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9572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6FEB"/>
                </a:solidFill>
              </a:defRPr>
            </a:pPr>
            <a:r>
              <a:t>Validation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Accuracy • Relevance</a:t>
            </a:r>
            <a:br/>
            <a:r>
              <a:t>Hallucination • Completeness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59367" y="2743200"/>
            <a:ext cx="438912" cy="45720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2148840"/>
            <a:ext cx="2331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239572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6FEB"/>
                </a:solidFill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92608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Scores → Verdict</a:t>
            </a:r>
            <a:br/>
            <a:r>
              <a:t>Charts →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9756" y="4800600"/>
            <a:ext cx="850200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Key Technologies: Python • </a:t>
            </a:r>
            <a:r>
              <a:rPr dirty="0" err="1">
                <a:solidFill>
                  <a:schemeClr val="bg1"/>
                </a:solidFill>
              </a:rPr>
              <a:t>Streamlit</a:t>
            </a:r>
            <a:r>
              <a:rPr dirty="0">
                <a:solidFill>
                  <a:schemeClr val="bg1"/>
                </a:solidFill>
              </a:rPr>
              <a:t> • </a:t>
            </a:r>
            <a:r>
              <a:rPr dirty="0" err="1">
                <a:solidFill>
                  <a:schemeClr val="bg1"/>
                </a:solidFill>
              </a:rPr>
              <a:t>FastAPI</a:t>
            </a:r>
            <a:r>
              <a:rPr dirty="0">
                <a:solidFill>
                  <a:schemeClr val="bg1"/>
                </a:solidFill>
              </a:rPr>
              <a:t> • Sentence Transformers (all-MiniLM-L6-v2) • </a:t>
            </a:r>
            <a:r>
              <a:rPr dirty="0" err="1">
                <a:solidFill>
                  <a:schemeClr val="bg1"/>
                </a:solidFill>
              </a:rPr>
              <a:t>ChromaDB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80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4. RAG-Based Reference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24028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719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rPr dirty="0"/>
              <a:t>Reference Text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1755648"/>
            <a:ext cx="45720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24028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448" y="1719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all-MiniLM-L6-v2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60720" y="1755648"/>
            <a:ext cx="45720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224028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719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Numerical Embedding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95360" y="1755648"/>
            <a:ext cx="457200" cy="411480"/>
          </a:xfrm>
          <a:prstGeom prst="rightArrow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1508760"/>
            <a:ext cx="224028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3728" y="1719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ChromaDB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6191" y="3604622"/>
            <a:ext cx="932905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Question → Query Embedding → Similarity Search → </a:t>
            </a:r>
            <a:r>
              <a:rPr dirty="0" err="1">
                <a:solidFill>
                  <a:schemeClr val="bg1"/>
                </a:solidFill>
              </a:rPr>
              <a:t>ChromaDB</a:t>
            </a:r>
            <a:r>
              <a:rPr dirty="0">
                <a:solidFill>
                  <a:schemeClr val="bg1"/>
                </a:solidFill>
              </a:rPr>
              <a:t> → Top-K Similar Results → Relevant Reference</a:t>
            </a:r>
          </a:p>
          <a:p>
            <a:pPr algn="ctr">
              <a:defRPr sz="15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retrieved reference is supplied to the validation agents as evaluation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859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5. Multi-Agent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2578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6916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Accuracy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Checks factual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578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Relevance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Checks whether the answer addresses the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74720"/>
            <a:ext cx="52578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474720"/>
            <a:ext cx="73152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393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Hallucination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Identifies unsupported or fabricated claims.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2578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474720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6393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Completeness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39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Checks important information that is missing.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6FEB"/>
                </a:solidFill>
              </a:defRPr>
            </a:pPr>
            <a:r>
              <a:t>Retrieved Reference + AI Response → Validation Agents → Overall Score → Final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3733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6. Final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Explain the project objective and evaluation workflow.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Evaluate a single AI response live through the dashboard.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Run batch evaluation using a CSV file.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Show dashboard metrics, verdict distribution and agent scores.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Export and open the evaluation report.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Compare ChatGPT and Gemini on the same five questions.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Summarize findings, strengths, limitations and future improvements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5777-0B87-BA1C-E36A-12556A705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A9ECE-C56C-3D94-236F-2A2FAC1F522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AF80D-5F14-614B-1519-15D8F605C7C1}"/>
              </a:ext>
            </a:extLst>
          </p:cNvPr>
          <p:cNvSpPr txBox="1"/>
          <p:nvPr/>
        </p:nvSpPr>
        <p:spPr>
          <a:xfrm>
            <a:off x="594360" y="320040"/>
            <a:ext cx="46411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7. ChatGPT - Batch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40AF-0544-317E-A904-B5CC44114F1C}"/>
              </a:ext>
            </a:extLst>
          </p:cNvPr>
          <p:cNvSpPr txBox="1"/>
          <p:nvPr/>
        </p:nvSpPr>
        <p:spPr>
          <a:xfrm>
            <a:off x="777240" y="132588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151E6-B36C-D319-84D5-6930F25A0CB2}"/>
              </a:ext>
            </a:extLst>
          </p:cNvPr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A4EA6-C794-4AC1-26D2-6EFFD8AAD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4" y="1282991"/>
            <a:ext cx="9626466" cy="484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68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7642-5262-77E6-DBC8-47391E38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665412-C241-43EC-5C74-AC983FCC870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39A02-2CFC-852A-A899-D7D09DF31BBF}"/>
              </a:ext>
            </a:extLst>
          </p:cNvPr>
          <p:cNvSpPr txBox="1"/>
          <p:nvPr/>
        </p:nvSpPr>
        <p:spPr>
          <a:xfrm>
            <a:off x="594360" y="320040"/>
            <a:ext cx="43729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8. Gemini - Batch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A5F66-3A79-EC85-7F95-27301F7CC6B6}"/>
              </a:ext>
            </a:extLst>
          </p:cNvPr>
          <p:cNvSpPr txBox="1"/>
          <p:nvPr/>
        </p:nvSpPr>
        <p:spPr>
          <a:xfrm>
            <a:off x="777240" y="132588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86D80-D241-6562-0CC2-B1D076A10FCB}"/>
              </a:ext>
            </a:extLst>
          </p:cNvPr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3DB39-D210-45F9-1AB2-5D0EFEC5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15" y="1246913"/>
            <a:ext cx="10052107" cy="48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24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3425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lang="en-IN" dirty="0">
                <a:solidFill>
                  <a:schemeClr val="bg1"/>
                </a:solidFill>
              </a:rPr>
              <a:t>9. ChatGPT vs Gemini — Batch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4663440" cy="594360"/>
          </a:xfrm>
          <a:prstGeom prst="rect">
            <a:avLst/>
          </a:prstGeom>
          <a:solidFill>
            <a:srgbClr val="1F6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0766" y="1444752"/>
            <a:ext cx="7107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2743200" cy="594360"/>
          </a:xfrm>
          <a:prstGeom prst="rect">
            <a:avLst/>
          </a:prstGeom>
          <a:solidFill>
            <a:srgbClr val="1F6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5250" y="1444752"/>
            <a:ext cx="86837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ChatGPT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325880"/>
            <a:ext cx="2743200" cy="594360"/>
          </a:xfrm>
          <a:prstGeom prst="rect">
            <a:avLst/>
          </a:prstGeom>
          <a:solidFill>
            <a:srgbClr val="1F6F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14972" y="1444752"/>
            <a:ext cx="75533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Gemini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20240"/>
            <a:ext cx="466344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4480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920240"/>
            <a:ext cx="2743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79" y="20756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40.0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920240"/>
            <a:ext cx="2743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0756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20.0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578608"/>
            <a:ext cx="4663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734056"/>
            <a:ext cx="4480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Relevance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57860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79" y="273405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28.0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57860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73405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38.0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236976"/>
            <a:ext cx="466344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392424"/>
            <a:ext cx="4480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Hallucination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3236976"/>
            <a:ext cx="2743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79" y="339242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100.0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236976"/>
            <a:ext cx="2743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39242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100.0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895344"/>
            <a:ext cx="4663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050791"/>
            <a:ext cx="4480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Completeness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895344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79" y="4050791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63.0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895344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050791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69.0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553712"/>
            <a:ext cx="466344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709160"/>
            <a:ext cx="4480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Overall 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4553712"/>
            <a:ext cx="2743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79" y="4709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58.0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4553712"/>
            <a:ext cx="27432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4709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56.8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212079"/>
            <a:ext cx="4663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367527"/>
            <a:ext cx="4480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rPr dirty="0"/>
              <a:t>Pass / Needs Improvement / Fail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5212079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79" y="5367527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1 / 1 /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5212079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0" y="5367527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1 / 1 /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965344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6FEB"/>
                </a:solidFill>
              </a:defRPr>
            </a:pPr>
            <a:r>
              <a:rPr dirty="0"/>
              <a:t>ChatGPT scored higher overall; Gemini scored higher in Relevance and Completeness.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307128"/>
            <a:ext cx="278313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97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10</a:t>
            </a:r>
            <a:r>
              <a:rPr dirty="0">
                <a:solidFill>
                  <a:schemeClr val="bg1"/>
                </a:solidFill>
              </a:rPr>
              <a:t>.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RAG retrieval and reference matching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Single evaluation workflow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Batch CSV evaluation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Frontend–backend integration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Accuracy, relevance, hallucination and completeness scoring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Overall verdict generation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Dashboard updates and result visualization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PDF/report generation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Repeated-run consistency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28616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6277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11</a:t>
            </a:r>
            <a:r>
              <a:rPr dirty="0">
                <a:solidFill>
                  <a:schemeClr val="bg1"/>
                </a:solidFill>
              </a:rPr>
              <a:t>. Findings, Strengths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3566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8348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Automated multi-dimensional evaluation</a:t>
            </a:r>
            <a:br/>
            <a:r>
              <a:t>RAG-based reference grounding</a:t>
            </a:r>
            <a:br/>
            <a:r>
              <a:t>Batch evaluation and dashboard</a:t>
            </a:r>
            <a:br/>
            <a:r>
              <a:t>Two-model comparison</a:t>
            </a:r>
            <a:br/>
            <a:r>
              <a:t>Structured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8348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Scores depend on retrieved reference quality</a:t>
            </a:r>
            <a:br/>
            <a:r>
              <a:t>Small comparison dataset in this demonstration</a:t>
            </a:r>
            <a:br/>
            <a:r>
              <a:t>Agent scoring can vary with evaluation prompts</a:t>
            </a:r>
            <a:br/>
            <a:r>
              <a:t>Hallucination score should be interpreted with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278313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628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2</a:t>
            </a:r>
            <a:r>
              <a:rPr dirty="0">
                <a:solidFill>
                  <a:schemeClr val="bg1"/>
                </a:solidFill>
              </a:rPr>
              <a:t>.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Support more LLM providers and model-specific comparisons.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Expand benchmark datasets and domain-specific reference collections.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Improve scoring consistency through calibration and standardized evaluation prompts.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Add richer filters and quality trends across large evaluation histories.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Improve report analytics and recommendation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Deploy the platform for team-based or production evaluation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278313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>
                <a:solidFill>
                  <a:schemeClr val="bg1"/>
                </a:solidFill>
              </a:rPr>
              <a:t>LLM Response Quality Evaluator • Final Demonstration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2835" y="108857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965" y="2468880"/>
            <a:ext cx="10209590" cy="22775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</a:defRPr>
            </a:pPr>
            <a:r>
              <a:rPr dirty="0"/>
              <a:t>The platform provides an end-to-end workflow for evaluating AI-generated responses using </a:t>
            </a:r>
            <a:endParaRPr lang="en-US" dirty="0"/>
          </a:p>
          <a:p>
            <a:pPr algn="ctr">
              <a:defRPr sz="2100">
                <a:solidFill>
                  <a:srgbClr val="FFFFFF"/>
                </a:solidFill>
              </a:defRPr>
            </a:pPr>
            <a:r>
              <a:rPr dirty="0"/>
              <a:t>trusted references and multiple validation dimensions.</a:t>
            </a:r>
            <a:endParaRPr lang="en-US" dirty="0"/>
          </a:p>
          <a:p>
            <a:pPr algn="ctr">
              <a:defRPr sz="2100">
                <a:solidFill>
                  <a:srgbClr val="FFFFFF"/>
                </a:solidFill>
              </a:defRPr>
            </a:pPr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The final demonstration validates the system using both ChatGPT and Gemini.</a:t>
            </a:r>
            <a:endParaRPr lang="en-US" dirty="0"/>
          </a:p>
          <a:p>
            <a:pPr algn="ctr">
              <a:defRPr sz="1800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>
                <a:solidFill>
                  <a:srgbClr val="FFFFFF"/>
                </a:solidFill>
              </a:defRPr>
            </a:pPr>
            <a:endParaRPr dirty="0"/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40</TotalTime>
  <Words>726</Words>
  <Application>Microsoft Office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2026-08-11T13:48:30Z</dcterms:modified>
  <cp:category/>
</cp:coreProperties>
</file>